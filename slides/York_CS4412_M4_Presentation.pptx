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920240"/>
            <a:ext cx="548640" cy="73152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MLB Player Aging by Offensive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Calibri"/>
              </a:rPr>
              <a:t>A pattern-discovery study of how hitters age, by hitter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Tate York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CS 4412 — Data Mining  ·  Kennesaw State University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Discovery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What this project set out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949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37160" cy="21945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493776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How does offensive performance change with age across the MLB player population?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2120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137160" cy="219456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57400"/>
            <a:ext cx="4754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D62728"/>
                </a:solidFill>
                <a:latin typeface="Calibr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06040"/>
            <a:ext cx="47548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Do aging curves differ across recognizably distinct offensive profiles, and if so, how?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Exploratory pattern discovery — not predictive modeling.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Source: Lahman Baseball Database (SABR), 1980–2021.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Lahman Baseball Database, 1980–2021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800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13,412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00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player-seasons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264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264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64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seasons (1980–2021)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≥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728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PA per season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1927" y="1828800"/>
            <a:ext cx="26517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1927" y="196596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>
                <a:solidFill>
                  <a:srgbClr val="1E276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1927" y="29260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offensive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Features used for clustering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BA  ·  OBP  ·  SLG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rate-style production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HR  ·  SO  ·  OPS_plus_lg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volume / approach + league-adjusted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OPS_plus_lg = 100 × OPS / LgAvgOPS  (per season and league)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Three steps from raw data to interpretable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376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K-Means on standardized offensive features. Choose k via elbow + silhouette over k = 2…8.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276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852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852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Map clusters to named profiles: power, balanced, contact, low-production. Compare aging curves.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2103120"/>
            <a:ext cx="35661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73287" y="2468880"/>
            <a:ext cx="777240" cy="7772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4688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3429000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Interpret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931920"/>
            <a:ext cx="30175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Decision tree on cluster labels surfaces which features drive separation.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Random seed pinned at 42. KMeans n_init=10. Stratified 75/25 train/test split for the tree.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Choosing k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Elbow says 3–4, silhouette peaks at 2 — interpretability breaks the tie</a:t>
            </a:r>
          </a:p>
        </p:txBody>
      </p:sp>
      <p:pic>
        <p:nvPicPr>
          <p:cNvPr id="6" name="Picture 5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400800" cy="391284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1463040"/>
            <a:ext cx="420624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399" y="1600200"/>
            <a:ext cx="3749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Why k = 4?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399" y="2194560"/>
            <a:ext cx="374904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Silhouette is highest at k = 2,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but a 2-cluster solution merges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distinct hitting styles into broad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“good / weak hitter” groups.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The elbow plot bends between k = 3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and k = 4.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k = 4 gives clusters that map onto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recognizable offensive profiles —</a:t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our analytical sweet spot.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Four Offensive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Cluster centroids tell a clean story</a:t>
            </a:r>
          </a:p>
        </p:txBody>
      </p:sp>
      <p:pic>
        <p:nvPicPr>
          <p:cNvPr id="6" name="Picture 5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852160" cy="434274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6560" y="1554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66560" y="1554480"/>
            <a:ext cx="164592" cy="105156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1719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D62728"/>
                </a:solidFill>
                <a:latin typeface="Calibri"/>
              </a:rPr>
              <a:t>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21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highest SLG · 27 HR avg · OPS+ ≈ 121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697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164592" cy="105156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2862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balanced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264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above-average across the 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840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3840480"/>
            <a:ext cx="164592" cy="10515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4005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CA02C"/>
                </a:solidFill>
                <a:latin typeface="Calibri"/>
              </a:rPr>
              <a:t>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07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high BA + OBP, lower power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4983480"/>
            <a:ext cx="493776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0" y="4983480"/>
            <a:ext cx="164592" cy="105156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514807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7F7F7F"/>
                </a:solidFill>
                <a:latin typeface="Calibri"/>
              </a:rPr>
              <a:t>low-production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550408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weakest offensive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Aging Curves Stay Separated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Profiles differ in level, not curve shape</a:t>
            </a:r>
          </a:p>
        </p:txBody>
      </p:sp>
      <p:pic>
        <p:nvPicPr>
          <p:cNvPr id="6" name="Picture 5" descr="ag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858000" cy="52451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463040"/>
            <a:ext cx="3840480" cy="46634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CADCFC"/>
                </a:solidFill>
                <a:latin typeface="Calibri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383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Profile order is preserved at every 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91840"/>
            <a:ext cx="338328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Power hitters hit hardest, balanced hitters hit second, contact and low-production stay below — and the ordering holds from age 22 through the late 30s.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What Drives the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Decision tree feature importance (interpretability tool, not a prediction model)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858000" cy="40979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463040"/>
            <a:ext cx="384048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Reading the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3832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Top of the tree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OPS_plus_lg ≈ 0.53 — the dominant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split. Separates high vs. low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producers.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Secondary splits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HR ≈ 0.26 separates power; BA ≈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0.11 separates contact; SO ≈ 0.09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contributes a smaller share.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Rate stats fade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OBP and SLG carry near-zero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standalone weight — their info is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absorbed by OPS_plus_lg.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Critical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Validity, limitations, and ethical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575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75" y="1554480"/>
            <a:ext cx="365760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75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Cluster partition is stable across multiple random seeds (high ARI).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Decision tree train ≈ test accuracy on cluster labels.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k = 4 chosen for interpretability over the silhouette-optimal k = 2 — explicit tradeoff.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1554480"/>
            <a:ext cx="3657600" cy="548640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7047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7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Survivorship bias: late-career curves are conditional on continued tenure.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PA ≥ 200 filter removes part-time and end-of-career players.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League adjustment is approximate; park effects are not removed.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Defense, position, baserunning, and injury are not in the model.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043519" y="1554480"/>
            <a:ext cx="36576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3519" y="1554480"/>
            <a:ext cx="3657600" cy="54864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3519" y="1645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Ethics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2119" y="23317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Public dataset; no medical or financial PII.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Profile labels describe regions of feature space — not judgments of individual players.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 Intended for academic pattern discovery, not roster decisions.</a:t>
            </a:r>
          </a:p>
          <a:p>
            <a:pPr algn="l"/>
            <a:r>
              <a:rPr sz="6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548640" cy="73152"/>
          </a:xfrm>
          <a:prstGeom prst="rect">
            <a:avLst/>
          </a:prstGeom>
          <a:solidFill>
            <a:srgbClr val="D62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2A3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Q1 — How does offensive performance change with age?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37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Improvement through the early-to-mid 20s, plateau, then decline. Visible at the population level; muted within the PA ≥ 200 sample.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03520" cy="1828800"/>
          </a:xfrm>
          <a:prstGeom prst="rect">
            <a:avLst/>
          </a:prstGeom>
          <a:solidFill>
            <a:srgbClr val="2A3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Q2 — Do aging curves differ across profiles?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37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Yes — by level, not shape. The four profiles stay separated at every age. Power on top, low-production at the bottom, all the way 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CADCFC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Survival-analysis framing to model player exit alongside performance.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Add defensive value, position, baserunning, and health context.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Use full park-adjusted OPS+ rather than the simple league-mean adjustment.</a:t>
            </a:r>
          </a:p>
          <a:p>
            <a:pPr algn="l"/>
            <a:r>
              <a:rPr sz="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ADCFC"/>
                </a:solidFill>
                <a:latin typeface="Calibri"/>
              </a:rPr>
              <a:t>Tate York  ·  CS 4412 — Data Mining  ·  Kennesaw State University  ·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