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20240"/>
            <a:ext cx="548640" cy="73152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MLB Player Aging by Offensive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A pattern-discovery study of how hitters age, by hitter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Tate York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CS 4412 — Data Mining  ·  Kennesaw State University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Discovery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What this project set out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3716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9377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How does offensive performance change with age across the MLB player population?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2120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37160" cy="2194560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62728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7548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Do aging curves differ across recognizably distinct offensive profiles, and if so, how?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Exploratory pattern discovery — not predictive modeling.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Source: Lahman Baseball Database (SABR), 1980–2025.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Lahman Baseball Database, 1980–2025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1828800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1965960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  <a:latin typeface="Calibri"/>
              </a:rPr>
              <a:t>13,412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player-seasons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2647" y="1828800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2647" y="1965960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  <a:latin typeface="Calibri"/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647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seasons (1980–2025)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1828800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287" y="1965960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  <a:latin typeface="Calibri"/>
              </a:rPr>
              <a:t>≥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PA per season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1927" y="1828800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1927" y="1965960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1927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offensive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Features used for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BA  ·  OBP  ·  SLG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rate-style production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HR  ·  SO  ·  OPS_plus_lg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volume / approach + league-adjusted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OPS_plus_lg = 100 × OPS / LgAvgOPS  (per season and league)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Three steps from raw data to interpretable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2103120"/>
            <a:ext cx="35661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3767" y="246888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767" y="24688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42900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93192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K-Means on standardized offensive features. Choose k via elbow + silhouette over k = 2…8.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767" y="2103120"/>
            <a:ext cx="35661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8527" y="246888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527" y="24688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342900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393192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Map clusters to named profiles: power, balanced, contact, low-production. Compare aging curves.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7527" y="2103120"/>
            <a:ext cx="35661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73287" y="246888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3287" y="24688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42900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393192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Decision tree on cluster labels surfaces which features drive separation.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Random seed pinned at 42. KMeans n_init=10. Stratified 75/25 train/test split for the tree.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Choosing k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Elbow says 3–4, silhouette peaks at 2 — interpretability breaks the tie</a:t>
            </a:r>
          </a:p>
        </p:txBody>
      </p:sp>
      <p:pic>
        <p:nvPicPr>
          <p:cNvPr id="6" name="Picture 5" descr="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400800" cy="39128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463040"/>
            <a:ext cx="4206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399" y="1600200"/>
            <a:ext cx="3749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Why k = 4?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194560"/>
            <a:ext cx="374904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Silhouette is highest at k = 2,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but a 2-cluster solution merges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distinct hitting styles into broad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“good / weak hitter” groups.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The elbow plot bends between k = 3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and k = 4.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k = 4 gives clusters that map onto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recognizable offensive profiles —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our analytical sweet spot.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Four Offensive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Cluster centroids tell a clean story</a:t>
            </a:r>
          </a:p>
        </p:txBody>
      </p:sp>
      <p:pic>
        <p:nvPicPr>
          <p:cNvPr id="6" name="Picture 5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4342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6560" y="1554480"/>
            <a:ext cx="4937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0" y="1554480"/>
            <a:ext cx="164592" cy="1051560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19072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62728"/>
                </a:solidFill>
                <a:latin typeface="Calibri"/>
              </a:rPr>
              <a:t>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21408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highest SLG · 27 HR avg · OPS+ ≈ 121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697480"/>
            <a:ext cx="4937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697480"/>
            <a:ext cx="164592" cy="105156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862072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Calibri"/>
              </a:rPr>
              <a:t>balanced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64408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above-average across the 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840480"/>
            <a:ext cx="4937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840480"/>
            <a:ext cx="164592" cy="10515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4005072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CA02C"/>
                </a:solidFill>
                <a:latin typeface="Calibri"/>
              </a:rPr>
              <a:t>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407408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high BA + OBP, lower power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4983480"/>
            <a:ext cx="4937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4983480"/>
            <a:ext cx="164592" cy="105156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5148072"/>
            <a:ext cx="4480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F7F7F"/>
                </a:solidFill>
                <a:latin typeface="Calibri"/>
              </a:rPr>
              <a:t>low-production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550408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weakest offensive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Aging Curves Stay Separated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Profiles differ in level, not curve shape</a:t>
            </a:r>
          </a:p>
        </p:txBody>
      </p:sp>
      <p:pic>
        <p:nvPicPr>
          <p:cNvPr id="6" name="Picture 5" descr="ag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858000" cy="52451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1463040"/>
            <a:ext cx="3840480" cy="4663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Calibri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383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Profile order is preserved at every 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33832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Power hitters hit hardest, balanced hitters hit second, contact and low-production stay below — and the ordering holds from age 22 through the late 30s.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What Drives the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Decision tree feature importance (interpretability tool, not a prediction model)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0979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1463040"/>
            <a:ext cx="384048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Reading the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38328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Top of the tree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OPS_plus_lg ≈ 0.53 — the dominant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split. Separates high vs. low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producers.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Secondary splits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HR ≈ 0.26 separates power; BA ≈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0.11 separates contact; SO ≈ 0.09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contributes a smaller share.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Rate stats fade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OBP and SLG carry near-zero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standalone weight — their info is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absorbed by OPS_plus_lg.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Critical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Validity, limitations, and ethical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575" y="155448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575" y="1554480"/>
            <a:ext cx="365760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575" y="16459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Validity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75" y="2331720"/>
            <a:ext cx="3200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Cluster partition is stable across multiple random seeds (high ARI).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Decision tree train ≈ test accuracy on cluster labels.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k = 4 chosen for interpretability over the silhouette-optimal k = 2 — explicit tradeoff.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55448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554480"/>
            <a:ext cx="3657600" cy="548640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047" y="16459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331720"/>
            <a:ext cx="3200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Survivorship bias: late-career curves are conditional on continued tenure.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PA ≥ 200 filter removes part-time and end-of-career players.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League adjustment is approximate; park effects are not removed.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Defense, position, baserunning, and injury are not in the model.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043519" y="155448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3519" y="1554480"/>
            <a:ext cx="3657600" cy="54864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3519" y="16459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2119" y="2331720"/>
            <a:ext cx="3200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Public dataset; no medical or financial PII.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Profile labels describe regions of feature space — not judgments of individual players.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Intended for academic pattern discovery, not roster decisions.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548640" cy="73152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1828800"/>
          </a:xfrm>
          <a:prstGeom prst="rect">
            <a:avLst/>
          </a:prstGeom>
          <a:solidFill>
            <a:srgbClr val="2A3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Q1 — How does offensive performance change with 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Improvement through the early-to-mid 20s, plateau, then decline. Visible at the population level; muted within the PA ≥ 200 sample.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303520" cy="1828800"/>
          </a:xfrm>
          <a:prstGeom prst="rect">
            <a:avLst/>
          </a:prstGeom>
          <a:solidFill>
            <a:srgbClr val="2A3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Q2 — Do aging curves differ across profiles?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Yes — by level, not shape. The four profiles stay separated at every age. Power on top, low-production at the bottom, all the way 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Survival-analysis framing to model player exit alongside performance.</a:t>
            </a:r>
          </a:p>
          <a:p>
            <a:pPr algn="l"/>
            <a:r>
              <a:rPr sz="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Add defensive value, position, baserunning, and health context.</a:t>
            </a:r>
          </a:p>
          <a:p>
            <a:pPr algn="l"/>
            <a:r>
              <a:rPr sz="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Use full park-adjusted OPS+ rather than the simple league-mean adjustment.</a:t>
            </a:r>
          </a:p>
          <a:p>
            <a:pPr algn="l"/>
            <a:r>
              <a:rPr sz="4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Tate York  ·  CS 4412 — Data Mining  ·  Kennesaw State University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