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920240"/>
            <a:ext cx="548640" cy="73152"/>
          </a:xfrm>
          <a:prstGeom prst="rect">
            <a:avLst/>
          </a:prstGeom>
          <a:solidFill>
            <a:srgbClr val="D62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9728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MLB Player Aging by Offensive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Calibri"/>
              </a:rPr>
              <a:t>A pattern-discovery study of how hitters age, by hitter 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Tate York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486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Calibri"/>
              </a:rPr>
              <a:t>CS 4412 — Data Mining  ·  Kennesaw State University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Discovery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What this project set out to answer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5394960" cy="219456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37160" cy="21945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E2761"/>
                </a:solidFill>
                <a:latin typeface="Calibri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06040"/>
            <a:ext cx="493776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How does offensive performance change with age across the MLB player population?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828800"/>
            <a:ext cx="5212080" cy="219456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828800"/>
            <a:ext cx="137160" cy="2194560"/>
          </a:xfrm>
          <a:prstGeom prst="rect">
            <a:avLst/>
          </a:prstGeom>
          <a:solidFill>
            <a:srgbClr val="D62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057400"/>
            <a:ext cx="47548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>
                <a:solidFill>
                  <a:srgbClr val="D62728"/>
                </a:solidFill>
                <a:latin typeface="Calibri"/>
              </a:rPr>
              <a:t>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606040"/>
            <a:ext cx="47548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Do aging curves differ across recognizably distinct offensive profiles, and if so, how?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7548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Exploratory pattern discovery — not predictive modeling.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Source: Lahman Baseball Database (SABR), 1980–2025.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The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Lahman Baseball Database, 1980–2025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007" y="1828800"/>
            <a:ext cx="265176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8007" y="1965960"/>
            <a:ext cx="26517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600" b="1">
                <a:solidFill>
                  <a:srgbClr val="1E2761"/>
                </a:solidFill>
                <a:latin typeface="Calibri"/>
              </a:rPr>
              <a:t>13,412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8007" y="2926080"/>
            <a:ext cx="26517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player-seasons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52647" y="1828800"/>
            <a:ext cx="265176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52647" y="1965960"/>
            <a:ext cx="26517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600" b="1">
                <a:solidFill>
                  <a:srgbClr val="1E2761"/>
                </a:solidFill>
                <a:latin typeface="Calibri"/>
              </a:rPr>
              <a:t>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2647" y="2926080"/>
            <a:ext cx="26517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seasons (1980–2025)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828800"/>
            <a:ext cx="265176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7287" y="1965960"/>
            <a:ext cx="26517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600" b="1">
                <a:solidFill>
                  <a:srgbClr val="1E2761"/>
                </a:solidFill>
                <a:latin typeface="Calibri"/>
              </a:rPr>
              <a:t>≥ 200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87287" y="2926080"/>
            <a:ext cx="26517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PA per season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21927" y="1828800"/>
            <a:ext cx="265176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21927" y="1965960"/>
            <a:ext cx="26517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600" b="1">
                <a:solidFill>
                  <a:srgbClr val="1E2761"/>
                </a:solidFill>
                <a:latin typeface="Calibr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1927" y="2926080"/>
            <a:ext cx="26517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offensive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148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Calibri"/>
              </a:rPr>
              <a:t>Features used for clustering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26280"/>
            <a:ext cx="109728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Calibri"/>
              </a:rPr>
              <a:t>BA  ·  OBP  ·  SLG</a:t>
            </a:r>
          </a:p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rate-style production</a:t>
            </a:r>
          </a:p>
          <a:p>
            <a:pPr algn="l"/>
            <a:r>
              <a:rPr sz="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800" b="1">
                <a:solidFill>
                  <a:srgbClr val="1A1A1A"/>
                </a:solidFill>
                <a:latin typeface="Calibri"/>
              </a:rPr>
              <a:t>HR  ·  SO  ·  OPS_plus_lg</a:t>
            </a:r>
          </a:p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volume / approach + league-adjusted production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OPS_plus_lg = 100 × OPS / LgAvgOPS  (per season and league)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Three steps from raw data to interpretable profiles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007" y="2103120"/>
            <a:ext cx="3566160" cy="320040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83767" y="2468880"/>
            <a:ext cx="777240" cy="7772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3767" y="24688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3429000"/>
            <a:ext cx="30175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E2761"/>
                </a:solidFill>
                <a:latin typeface="Calibri"/>
              </a:rPr>
              <a:t>Cluster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931920"/>
            <a:ext cx="301752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K-Means on standardized offensive features. Choose k via elbow + silhouette over k = 2…8.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2767" y="2103120"/>
            <a:ext cx="3566160" cy="320040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78527" y="2468880"/>
            <a:ext cx="777240" cy="7772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8527" y="24688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7087" y="3429000"/>
            <a:ext cx="30175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E2761"/>
                </a:solidFill>
                <a:latin typeface="Calibri"/>
              </a:rPr>
              <a:t>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3931920"/>
            <a:ext cx="301752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Map clusters to named profiles: power, balanced, contact, low-production. Compare aging curves.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2103120"/>
            <a:ext cx="3566160" cy="320040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73287" y="2468880"/>
            <a:ext cx="777240" cy="7772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3287" y="24688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3429000"/>
            <a:ext cx="30175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E2761"/>
                </a:solidFill>
                <a:latin typeface="Calibri"/>
              </a:rPr>
              <a:t>Interpret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1847" y="3931920"/>
            <a:ext cx="301752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Decision tree on cluster labels surfaces which features drive separation.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Random seed pinned at 42. KMeans n_init=10. Stratified 75/25 train/test split for the tree.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Choosing k =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Elbow says 3–4, silhouette peaks at 2 — interpretability breaks the tie</a:t>
            </a:r>
          </a:p>
        </p:txBody>
      </p:sp>
      <p:pic>
        <p:nvPicPr>
          <p:cNvPr id="6" name="Picture 5" descr="elbow_silhou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6400800" cy="391284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498079" y="1463040"/>
            <a:ext cx="420624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399" y="1600200"/>
            <a:ext cx="3749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1E2761"/>
                </a:solidFill>
                <a:latin typeface="Calibri"/>
              </a:rPr>
              <a:t>Why k = 4?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399" y="2194560"/>
            <a:ext cx="3749040" cy="3657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Silhouette is highest at k = 2,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but a 2-cluster solution merges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distinct hitting styles into broad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“good / weak hitter” groups.</a:t>
            </a:r>
          </a:p>
          <a:p>
            <a:pPr algn="l"/>
            <a:r>
              <a:rPr sz="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The elbow plot bends between k = 3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and k = 4.</a:t>
            </a:r>
          </a:p>
          <a:p>
            <a:pPr algn="l"/>
            <a:r>
              <a:rPr sz="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k = 4 gives clusters that map onto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recognizable offensive profiles —</a:t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Calibri"/>
              </a:rPr>
              <a:t>our analytical sweet spot.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Four Offensive Profiles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Cluster centroids tell a clean story</a:t>
            </a:r>
          </a:p>
        </p:txBody>
      </p:sp>
      <p:pic>
        <p:nvPicPr>
          <p:cNvPr id="6" name="Picture 5" descr="cluster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5852160" cy="434274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6560" y="1554480"/>
            <a:ext cx="493776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766560" y="1554480"/>
            <a:ext cx="164592" cy="1051560"/>
          </a:xfrm>
          <a:prstGeom prst="rect">
            <a:avLst/>
          </a:prstGeom>
          <a:solidFill>
            <a:srgbClr val="D62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1719072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D62728"/>
                </a:solidFill>
                <a:latin typeface="Calibri"/>
              </a:rPr>
              <a:t>power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121408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highest SLG · 27 HR avg · OPS+ ≈ 121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697480"/>
            <a:ext cx="493776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66560" y="2697480"/>
            <a:ext cx="164592" cy="105156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0" y="2862072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1F77B4"/>
                </a:solidFill>
                <a:latin typeface="Calibri"/>
              </a:rPr>
              <a:t>balanced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3264408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above-average across the board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3840480"/>
            <a:ext cx="493776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6560" y="3840480"/>
            <a:ext cx="164592" cy="105156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0" y="4005072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2CA02C"/>
                </a:solidFill>
                <a:latin typeface="Calibri"/>
              </a:rPr>
              <a:t>contact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407408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high BA + OBP, lower power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4983480"/>
            <a:ext cx="493776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66560" y="4983480"/>
            <a:ext cx="164592" cy="105156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0" y="5148072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7F7F7F"/>
                </a:solidFill>
                <a:latin typeface="Calibri"/>
              </a:rPr>
              <a:t>low-production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5550408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weakest offensive 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Aging Curves Stay Separated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Profiles differ in level, not curve shape</a:t>
            </a:r>
          </a:p>
        </p:txBody>
      </p:sp>
      <p:pic>
        <p:nvPicPr>
          <p:cNvPr id="6" name="Picture 5" descr="ag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858000" cy="524516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63840" y="1463040"/>
            <a:ext cx="3840480" cy="466344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CADCFC"/>
                </a:solidFill>
                <a:latin typeface="Calibri"/>
              </a:rPr>
              <a:t>Key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103120"/>
            <a:ext cx="3383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Profile order is preserved at every 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3291840"/>
            <a:ext cx="338328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Calibri"/>
              </a:rPr>
              <a:t>Power hitters hit hardest, balanced hitters hit second, contact and low-production stay below — and the ordering holds from age 22 through the late 30s.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What Drives the Profiles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Decision tree feature importance (interpretability tool, not a prediction model)</a:t>
            </a:r>
          </a:p>
        </p:txBody>
      </p:sp>
      <p:pic>
        <p:nvPicPr>
          <p:cNvPr id="6" name="Picture 5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6858000" cy="409795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63840" y="1463040"/>
            <a:ext cx="384048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4592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1E2761"/>
                </a:solidFill>
                <a:latin typeface="Calibri"/>
              </a:rPr>
              <a:t>Reading the tree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103120"/>
            <a:ext cx="3383280" cy="4114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Calibri"/>
              </a:rPr>
              <a:t>Tier 1 split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Overall production (OPS_plus_lg)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separates high vs. low producers.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Calibri"/>
              </a:rPr>
              <a:t>Tier 2 splits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HR and SO separate power vs.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balanced and contact vs.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low-production within tier.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Calibri"/>
              </a:rPr>
              <a:t>Rate stats fade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BA, OBP carry less standalone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weight — their info is absorbed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by OPS_plus_lg.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Critical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Validity, limitations, and ethical considerations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90575" y="1554480"/>
            <a:ext cx="365760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0575" y="1554480"/>
            <a:ext cx="3657600" cy="54864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0575" y="16459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Validity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9175" y="2331720"/>
            <a:ext cx="3200400" cy="3657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•  Cluster partition is stable across multiple random seeds (high ARI).</a:t>
            </a:r>
          </a:p>
          <a:p>
            <a:pPr algn="l"/>
            <a:r>
              <a:rPr sz="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•  Decision tree train ≈ test accuracy on cluster labels.</a:t>
            </a:r>
          </a:p>
          <a:p>
            <a:pPr algn="l"/>
            <a:r>
              <a:rPr sz="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•  k = 4 chosen for interpretability over the silhouette-optimal k = 2 — explicit tradeoff.</a:t>
            </a:r>
          </a:p>
          <a:p>
            <a:pPr algn="l"/>
            <a:r>
              <a:rPr sz="600" b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267047" y="1554480"/>
            <a:ext cx="365760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7047" y="1554480"/>
            <a:ext cx="3657600" cy="548640"/>
          </a:xfrm>
          <a:prstGeom prst="rect">
            <a:avLst/>
          </a:prstGeom>
          <a:solidFill>
            <a:srgbClr val="D62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67047" y="16459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Limitations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647" y="2331720"/>
            <a:ext cx="3200400" cy="3657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•  Survivorship bias: late-career curves are conditional on continued tenure.</a:t>
            </a:r>
          </a:p>
          <a:p>
            <a:pPr algn="l"/>
            <a:r>
              <a:rPr sz="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•  PA ≥ 200 filter removes part-time and end-of-career players.</a:t>
            </a:r>
          </a:p>
          <a:p>
            <a:pPr algn="l"/>
            <a:r>
              <a:rPr sz="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•  League adjustment is approximate; park effects are not removed.</a:t>
            </a:r>
          </a:p>
          <a:p>
            <a:pPr algn="l"/>
            <a:r>
              <a:rPr sz="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•  Defense, position, baserunning, and injury are not in the model.</a:t>
            </a:r>
          </a:p>
          <a:p>
            <a:pPr algn="l"/>
            <a:r>
              <a:rPr sz="600" b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8043519" y="1554480"/>
            <a:ext cx="365760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3519" y="1554480"/>
            <a:ext cx="3657600" cy="54864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3519" y="16459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Ethics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2119" y="2331720"/>
            <a:ext cx="3200400" cy="3657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•  Public dataset; no medical or financial PII.</a:t>
            </a:r>
          </a:p>
          <a:p>
            <a:pPr algn="l"/>
            <a:r>
              <a:rPr sz="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•  Profile labels describe regions of feature space — not judgments of individual players.</a:t>
            </a:r>
          </a:p>
          <a:p>
            <a:pPr algn="l"/>
            <a:r>
              <a:rPr sz="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•  Intended for academic pattern discovery, not roster decisions.</a:t>
            </a:r>
          </a:p>
          <a:p>
            <a:pPr algn="l"/>
            <a:r>
              <a:rPr sz="600" b="0">
                <a:solidFill>
                  <a:srgbClr val="1A1A1A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48640"/>
            <a:ext cx="548640" cy="73152"/>
          </a:xfrm>
          <a:prstGeom prst="rect">
            <a:avLst/>
          </a:prstGeom>
          <a:solidFill>
            <a:srgbClr val="D62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394960" cy="1828800"/>
          </a:xfrm>
          <a:prstGeom prst="rect">
            <a:avLst/>
          </a:prstGeom>
          <a:solidFill>
            <a:srgbClr val="2A3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CADCFC"/>
                </a:solidFill>
                <a:latin typeface="Calibri"/>
              </a:rPr>
              <a:t>Q1 — How does offensive performance change with age?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93776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Improvement through the early-to-mid 20s, plateau, then decline. Visible at the population level; muted within the PA ≥ 200 sample.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828800"/>
            <a:ext cx="5303520" cy="1828800"/>
          </a:xfrm>
          <a:prstGeom prst="rect">
            <a:avLst/>
          </a:prstGeom>
          <a:solidFill>
            <a:srgbClr val="2A3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11680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CADCFC"/>
                </a:solidFill>
                <a:latin typeface="Calibri"/>
              </a:rPr>
              <a:t>Q2 — Do aging curves differ across profiles?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68880"/>
            <a:ext cx="493776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Yes — by level, not shape. The four profiles stay separated at every age. Power on top, low-production at the bottom, all the way through.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CADCFC"/>
                </a:solidFill>
                <a:latin typeface="Calibri"/>
              </a:rP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63440"/>
            <a:ext cx="109728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Survival-analysis framing to model player exit alongside performance.</a:t>
            </a:r>
          </a:p>
          <a:p>
            <a:pPr algn="l"/>
            <a:r>
              <a:rPr sz="4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Add defensive value, position, baserunning, and health context.</a:t>
            </a:r>
          </a:p>
          <a:p>
            <a:pPr algn="l"/>
            <a:r>
              <a:rPr sz="4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Use full park-adjusted OPS+ rather than the simple league-mean adjustment.</a:t>
            </a:r>
          </a:p>
          <a:p>
            <a:pPr algn="l"/>
            <a:r>
              <a:rPr sz="400" b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CADCFC"/>
                </a:solidFill>
                <a:latin typeface="Calibri"/>
              </a:rPr>
              <a:t>Tate York  ·  CS 4412 — Data Mining  ·  Kennesaw State University  ·  April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